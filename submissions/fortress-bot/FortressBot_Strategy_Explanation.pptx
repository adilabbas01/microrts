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 snapToObjects="1">
      <p:cViewPr varScale="1">
        <p:scale>
          <a:sx n="109" d="100"/>
          <a:sy n="109" d="100"/>
        </p:scale>
        <p:origin x="16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Fortress Bot Decision System (</a:t>
            </a:r>
            <a:r>
              <a:rPr b="1" dirty="0" err="1">
                <a:solidFill>
                  <a:srgbClr val="00694E"/>
                </a:solidFill>
              </a:rPr>
              <a:t>MicroRTS</a:t>
            </a:r>
            <a:r>
              <a:rPr b="1" dirty="0">
                <a:solidFill>
                  <a:srgbClr val="00694E"/>
                </a:solidFill>
              </a:rPr>
              <a:t> Submission)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00694E"/>
                </a:solidFill>
              </a:rPr>
              <a:t>Hybrid LLM strategy + hard-coded tactical execution</a:t>
            </a:r>
          </a:p>
          <a:p>
            <a:r>
              <a:rPr lang="en-US" dirty="0">
                <a:solidFill>
                  <a:srgbClr val="00694E"/>
                </a:solidFill>
              </a:rPr>
              <a:t>Owen Salyer</a:t>
            </a:r>
            <a:endParaRPr dirty="0">
              <a:solidFill>
                <a:srgbClr val="00694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What Fortress Bot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694E"/>
                </a:solidFill>
              </a:rPr>
              <a:t>Hybrid controller: LLM-planned strategy plus hard-coded tactical execution.</a:t>
            </a:r>
          </a:p>
          <a:p>
            <a:r>
              <a:rPr dirty="0">
                <a:solidFill>
                  <a:srgbClr val="00694E"/>
                </a:solidFill>
              </a:rPr>
              <a:t>Queries </a:t>
            </a:r>
            <a:r>
              <a:rPr dirty="0" err="1">
                <a:solidFill>
                  <a:srgbClr val="00694E"/>
                </a:solidFill>
              </a:rPr>
              <a:t>Ollama</a:t>
            </a:r>
            <a:r>
              <a:rPr dirty="0">
                <a:solidFill>
                  <a:srgbClr val="00694E"/>
                </a:solidFill>
              </a:rPr>
              <a:t> for strategy JSON, then enforces local safety and override rules.</a:t>
            </a:r>
          </a:p>
          <a:p>
            <a:r>
              <a:rPr dirty="0">
                <a:solidFill>
                  <a:srgbClr val="00694E"/>
                </a:solidFill>
              </a:rPr>
              <a:t>Default model is llama3.1:8b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Per-Tick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solidFill>
                  <a:srgbClr val="00694E"/>
                </a:solidFill>
              </a:rPr>
              <a:t>Skip if no unit can act; otherwise build a full state snapshot.</a:t>
            </a:r>
          </a:p>
          <a:p>
            <a:r>
              <a:rPr dirty="0">
                <a:solidFill>
                  <a:srgbClr val="00694E"/>
                </a:solidFill>
              </a:rPr>
              <a:t>If small-map worker-rush pattern is detected, delegate to built-in </a:t>
            </a:r>
            <a:r>
              <a:rPr dirty="0" err="1">
                <a:solidFill>
                  <a:srgbClr val="00694E"/>
                </a:solidFill>
              </a:rPr>
              <a:t>WorkerRush</a:t>
            </a:r>
            <a:r>
              <a:rPr dirty="0">
                <a:solidFill>
                  <a:srgbClr val="00694E"/>
                </a:solidFill>
              </a:rPr>
              <a:t> mirror.</a:t>
            </a:r>
          </a:p>
          <a:p>
            <a:r>
              <a:rPr dirty="0">
                <a:solidFill>
                  <a:srgbClr val="00694E"/>
                </a:solidFill>
              </a:rPr>
              <a:t>Else if safe collapsed-enemy opening condition holds, run scripted greedy opening.</a:t>
            </a:r>
          </a:p>
          <a:p>
            <a:r>
              <a:rPr dirty="0">
                <a:solidFill>
                  <a:srgbClr val="00694E"/>
                </a:solidFill>
              </a:rPr>
              <a:t>Else consult LLM on interval</a:t>
            </a:r>
            <a:endParaRPr lang="en-US" dirty="0">
              <a:solidFill>
                <a:srgbClr val="00694E"/>
              </a:solidFill>
            </a:endParaRPr>
          </a:p>
          <a:p>
            <a:r>
              <a:rPr dirty="0">
                <a:solidFill>
                  <a:srgbClr val="00694E"/>
                </a:solidFill>
              </a:rPr>
              <a:t>Apply lock/override rules, execute directive, then assign any remaining idle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LLM Interface and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694E"/>
                </a:solidFill>
              </a:rPr>
              <a:t>LLM returns one strategy mode plus numeric knobs for next consult window.</a:t>
            </a:r>
          </a:p>
          <a:p>
            <a:r>
              <a:rPr dirty="0">
                <a:solidFill>
                  <a:srgbClr val="00694E"/>
                </a:solidFill>
              </a:rPr>
              <a:t>Consult interval defaults to 160 ticks</a:t>
            </a:r>
            <a:r>
              <a:rPr lang="en-US" dirty="0">
                <a:solidFill>
                  <a:srgbClr val="00694E"/>
                </a:solidFill>
              </a:rPr>
              <a:t> (200 ticks on 16x16)</a:t>
            </a:r>
            <a:r>
              <a:rPr dirty="0">
                <a:solidFill>
                  <a:srgbClr val="00694E"/>
                </a:solidFill>
              </a:rPr>
              <a:t>.</a:t>
            </a:r>
          </a:p>
          <a:p>
            <a:r>
              <a:rPr dirty="0">
                <a:solidFill>
                  <a:srgbClr val="00694E"/>
                </a:solidFill>
              </a:rPr>
              <a:t>Parser accepts strict JSON or extracts the first JSON object from mixed text.</a:t>
            </a:r>
          </a:p>
          <a:p>
            <a:r>
              <a:rPr dirty="0">
                <a:solidFill>
                  <a:srgbClr val="00694E"/>
                </a:solidFill>
              </a:rPr>
              <a:t>If call/parse fails, bot falls back to a deterministic strategy tree.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00694E"/>
                </a:solidFill>
              </a:rPr>
              <a:t>Strategy Modes the LLM Can Choose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rgbClr val="00694E"/>
                </a:solidFill>
              </a:rPr>
              <a:t>BOOM_THEN_PUSH: Build economy first, then timed attacks.</a:t>
            </a:r>
          </a:p>
          <a:p>
            <a:r>
              <a:rPr sz="2400" dirty="0">
                <a:solidFill>
                  <a:srgbClr val="00694E"/>
                </a:solidFill>
              </a:rPr>
              <a:t>RANGED_CONTAIN: Pressure with ranged units and deny expansion.</a:t>
            </a:r>
          </a:p>
          <a:p>
            <a:r>
              <a:rPr sz="2400" dirty="0">
                <a:solidFill>
                  <a:srgbClr val="00694E"/>
                </a:solidFill>
              </a:rPr>
              <a:t>HEAVY_BREAKTHROUGH: Fewer but stronger frontline attackers.</a:t>
            </a:r>
          </a:p>
          <a:p>
            <a:r>
              <a:rPr sz="2400" dirty="0">
                <a:solidFill>
                  <a:srgbClr val="00694E"/>
                </a:solidFill>
              </a:rPr>
              <a:t>WORKER_SWARM: Pull workers for short aggressive timing.</a:t>
            </a:r>
          </a:p>
          <a:p>
            <a:r>
              <a:rPr sz="2400" dirty="0">
                <a:solidFill>
                  <a:srgbClr val="00694E"/>
                </a:solidFill>
              </a:rPr>
              <a:t>SCOUT_AND_RAID: Selective harassment of workers and infrastructure.</a:t>
            </a:r>
          </a:p>
          <a:p>
            <a:r>
              <a:rPr sz="2400" dirty="0">
                <a:solidFill>
                  <a:srgbClr val="00694E"/>
                </a:solidFill>
              </a:rPr>
              <a:t>FORTRESS_DEFENSE: Turtle and stabilize.</a:t>
            </a:r>
          </a:p>
          <a:p>
            <a:r>
              <a:rPr sz="2400" dirty="0">
                <a:solidFill>
                  <a:srgbClr val="00694E"/>
                </a:solidFill>
              </a:rPr>
              <a:t>ALL_IN_PUSH: Commit army to finish.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00694E"/>
                </a:solidFill>
              </a:rPr>
              <a:t>Mode Locking and Override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694E"/>
                </a:solidFill>
              </a:rPr>
              <a:t>Mode switches are lock-gated by </a:t>
            </a:r>
            <a:r>
              <a:rPr dirty="0" err="1">
                <a:solidFill>
                  <a:srgbClr val="00694E"/>
                </a:solidFill>
              </a:rPr>
              <a:t>modeLockedUntilTick</a:t>
            </a:r>
            <a:r>
              <a:rPr dirty="0">
                <a:solidFill>
                  <a:srgbClr val="00694E"/>
                </a:solidFill>
              </a:rPr>
              <a:t>.</a:t>
            </a:r>
          </a:p>
          <a:p>
            <a:r>
              <a:rPr dirty="0">
                <a:solidFill>
                  <a:srgbClr val="00694E"/>
                </a:solidFill>
              </a:rPr>
              <a:t>Lock duration is max(75, </a:t>
            </a:r>
            <a:r>
              <a:rPr dirty="0" err="1">
                <a:solidFill>
                  <a:srgbClr val="00694E"/>
                </a:solidFill>
              </a:rPr>
              <a:t>hold_ticks</a:t>
            </a:r>
            <a:r>
              <a:rPr dirty="0">
                <a:solidFill>
                  <a:srgbClr val="00694E"/>
                </a:solidFill>
              </a:rPr>
              <a:t>).</a:t>
            </a:r>
          </a:p>
          <a:p>
            <a:r>
              <a:rPr dirty="0">
                <a:solidFill>
                  <a:srgbClr val="00694E"/>
                </a:solidFill>
              </a:rPr>
              <a:t>Blocked mode switches still absorb non-mode numeric parameters.</a:t>
            </a:r>
          </a:p>
          <a:p>
            <a:r>
              <a:rPr dirty="0">
                <a:solidFill>
                  <a:srgbClr val="00694E"/>
                </a:solidFill>
              </a:rPr>
              <a:t>Emergency or forced conditions can override lock and force mode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Hard-Coded Situation Overrides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solidFill>
                  <a:srgbClr val="00694E"/>
                </a:solidFill>
              </a:rPr>
              <a:t>Worker-rush defense override forces FORTRESS_DEFENSE behavior.</a:t>
            </a:r>
          </a:p>
          <a:p>
            <a:r>
              <a:rPr dirty="0">
                <a:solidFill>
                  <a:srgbClr val="00694E"/>
                </a:solidFill>
              </a:rPr>
              <a:t>Forced all-out rush can force ALL_IN_PUSH when enemy economy is collapsing.</a:t>
            </a:r>
          </a:p>
          <a:p>
            <a:r>
              <a:rPr dirty="0">
                <a:solidFill>
                  <a:srgbClr val="00694E"/>
                </a:solidFill>
              </a:rPr>
              <a:t>Large-map closeout forces a finishing push once favorable thresholds are met.</a:t>
            </a:r>
          </a:p>
          <a:p>
            <a:r>
              <a:rPr dirty="0">
                <a:solidFill>
                  <a:srgbClr val="00694E"/>
                </a:solidFill>
              </a:rPr>
              <a:t>Emergency override: no base =&gt; WORKER_SWARM; severe local threat =&gt; FORTRESS_DEFENSE.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00694E"/>
                </a:solidFill>
              </a:rPr>
              <a:t>Special Branches Before Normal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rgbClr val="00694E"/>
                </a:solidFill>
              </a:rPr>
              <a:t>WorkerRush</a:t>
            </a:r>
            <a:r>
              <a:rPr dirty="0">
                <a:solidFill>
                  <a:srgbClr val="00694E"/>
                </a:solidFill>
              </a:rPr>
              <a:t> mirror delegation bypasses normal Fortress logic in specific rush states.</a:t>
            </a:r>
          </a:p>
          <a:p>
            <a:r>
              <a:rPr dirty="0">
                <a:solidFill>
                  <a:srgbClr val="00694E"/>
                </a:solidFill>
              </a:rPr>
              <a:t>Scripted opening runs until tick 360 under safe enemy-collapsed conditions.</a:t>
            </a:r>
          </a:p>
          <a:p>
            <a:r>
              <a:rPr dirty="0">
                <a:solidFill>
                  <a:srgbClr val="00694E"/>
                </a:solidFill>
              </a:rPr>
              <a:t>Scripted opening uses a greedy boom profile with possible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Economy, Tech, and Build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rgbClr val="00694E"/>
                </a:solidFill>
              </a:rPr>
              <a:t>Rebuild base immediately if destroyed and resources permit.</a:t>
            </a:r>
          </a:p>
          <a:p>
            <a:r>
              <a:rPr sz="2400" dirty="0">
                <a:solidFill>
                  <a:srgbClr val="00694E"/>
                </a:solidFill>
              </a:rPr>
              <a:t>Prioritize early workers before barracks if worker count is too low.</a:t>
            </a:r>
          </a:p>
          <a:p>
            <a:r>
              <a:rPr sz="2400" dirty="0">
                <a:solidFill>
                  <a:srgbClr val="00694E"/>
                </a:solidFill>
              </a:rPr>
              <a:t>Barracks count target comes from directive, then adjusted by threat/map rules.</a:t>
            </a:r>
          </a:p>
          <a:p>
            <a:r>
              <a:rPr sz="2400" dirty="0">
                <a:solidFill>
                  <a:srgbClr val="00694E"/>
                </a:solidFill>
              </a:rPr>
              <a:t>Expansion allowed only when safety and tech preconditions are satisfied.</a:t>
            </a:r>
          </a:p>
          <a:p>
            <a:r>
              <a:rPr sz="2400" dirty="0">
                <a:solidFill>
                  <a:srgbClr val="00694E"/>
                </a:solidFill>
              </a:rPr>
              <a:t>Barracks production unit type adapts to mode and enemy composition.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Worker Role Assignment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rgbClr val="00694E"/>
                </a:solidFill>
              </a:rPr>
              <a:t>Workers are split into defenders, raiders, harvesters, and optional home reserve.</a:t>
            </a:r>
          </a:p>
          <a:p>
            <a:r>
              <a:rPr sz="2400" dirty="0">
                <a:solidFill>
                  <a:srgbClr val="00694E"/>
                </a:solidFill>
              </a:rPr>
              <a:t>Early barracks-snipe rule can prioritize destroying enemy barracks first.</a:t>
            </a:r>
          </a:p>
          <a:p>
            <a:r>
              <a:rPr sz="2400" dirty="0">
                <a:solidFill>
                  <a:srgbClr val="00694E"/>
                </a:solidFill>
              </a:rPr>
              <a:t>Forced all-out mode can commit all available workers to pressure.</a:t>
            </a:r>
          </a:p>
          <a:p>
            <a:r>
              <a:rPr sz="2400" dirty="0">
                <a:solidFill>
                  <a:srgbClr val="00694E"/>
                </a:solidFill>
              </a:rPr>
              <a:t>BOOM_THEN_PUSH enforces minimum harvester floors to sustain production.</a:t>
            </a:r>
          </a:p>
          <a:p>
            <a:r>
              <a:rPr sz="2400" dirty="0">
                <a:solidFill>
                  <a:srgbClr val="00694E"/>
                </a:solidFill>
              </a:rPr>
              <a:t>Defense modes suppress worker raiding and increase local defense pull.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00694E"/>
                </a:solidFill>
              </a:rPr>
              <a:t>Combat Execution and Wave Launch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rgbClr val="00694E"/>
                </a:solidFill>
              </a:rPr>
              <a:t>Wave launches depend on army threshold, timer, emergencies, and advantage checks.</a:t>
            </a:r>
          </a:p>
          <a:p>
            <a:r>
              <a:rPr sz="2400" dirty="0">
                <a:solidFill>
                  <a:srgbClr val="00694E"/>
                </a:solidFill>
              </a:rPr>
              <a:t>Large advantage includes combat lead &gt;= 3 or zero-enemy-combat with econ edge.</a:t>
            </a:r>
          </a:p>
          <a:p>
            <a:r>
              <a:rPr sz="2400" dirty="0">
                <a:solidFill>
                  <a:srgbClr val="00694E"/>
                </a:solidFill>
              </a:rPr>
              <a:t>Outside launch windows, units defend near base or rally per mode.</a:t>
            </a:r>
          </a:p>
          <a:p>
            <a:r>
              <a:rPr sz="2400" dirty="0">
                <a:solidFill>
                  <a:srgbClr val="00694E"/>
                </a:solidFill>
              </a:rPr>
              <a:t>ALL_IN_PUSH keeps combat units on continuous attack paths.</a:t>
            </a:r>
          </a:p>
          <a:p>
            <a:r>
              <a:rPr sz="2400" dirty="0">
                <a:solidFill>
                  <a:srgbClr val="00694E"/>
                </a:solidFill>
              </a:rPr>
              <a:t>Guardrail pass ensures no unit remains idle without purpose.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00694E"/>
                </a:solidFill>
              </a:rPr>
              <a:t>Target Priority System (Hard-Coded)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>
                <a:solidFill>
                  <a:srgbClr val="00694E"/>
                </a:solidFill>
              </a:rPr>
              <a:t>Target score combines distance and unit-type priority.</a:t>
            </a:r>
          </a:p>
          <a:p>
            <a:r>
              <a:rPr dirty="0">
                <a:solidFill>
                  <a:srgbClr val="00694E"/>
                </a:solidFill>
              </a:rPr>
              <a:t>Mode-specific modifiers shift priority (e.g., ALL_IN favors base/barracks kill).</a:t>
            </a:r>
          </a:p>
          <a:p>
            <a:r>
              <a:rPr dirty="0">
                <a:solidFill>
                  <a:srgbClr val="00694E"/>
                </a:solidFill>
              </a:rPr>
              <a:t>SCOUT_AND_RAID boosts worker/barracks harassment.</a:t>
            </a:r>
          </a:p>
          <a:p>
            <a:r>
              <a:rPr dirty="0">
                <a:solidFill>
                  <a:srgbClr val="00694E"/>
                </a:solidFill>
              </a:rPr>
              <a:t>RANGED_CONTAIN prioritizes attacking enemy combat units.</a:t>
            </a:r>
          </a:p>
          <a:p>
            <a:r>
              <a:rPr dirty="0">
                <a:solidFill>
                  <a:srgbClr val="00694E"/>
                </a:solidFill>
              </a:rPr>
              <a:t>WORKER_SWARM increases worker-target preference.</a:t>
            </a:r>
          </a:p>
          <a:p>
            <a:r>
              <a:rPr dirty="0">
                <a:solidFill>
                  <a:srgbClr val="00694E"/>
                </a:solidFill>
              </a:rPr>
              <a:t>Harass-only targeting further biases workers and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rgbClr val="00694E"/>
                </a:solidFill>
              </a:rPr>
              <a:t>Deterministic Fallback Strategy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>
                <a:solidFill>
                  <a:srgbClr val="00694E"/>
                </a:solidFill>
              </a:rPr>
              <a:t>High local threat or worker-rush signs =&gt; FORTRESS_DEFENSE.</a:t>
            </a:r>
          </a:p>
          <a:p>
            <a:r>
              <a:rPr dirty="0">
                <a:solidFill>
                  <a:srgbClr val="00694E"/>
                </a:solidFill>
              </a:rPr>
              <a:t>Strong combat lead =&gt; ALL_IN_PUSH.</a:t>
            </a:r>
          </a:p>
          <a:p>
            <a:r>
              <a:rPr dirty="0">
                <a:solidFill>
                  <a:srgbClr val="00694E"/>
                </a:solidFill>
              </a:rPr>
              <a:t>Early game (time &lt; 450) =&gt; BOOM_THEN_PUSH.</a:t>
            </a:r>
          </a:p>
          <a:p>
            <a:r>
              <a:rPr dirty="0">
                <a:solidFill>
                  <a:srgbClr val="00694E"/>
                </a:solidFill>
              </a:rPr>
              <a:t>Large-map mid/late =&gt; SCOUT_AND_RAID.</a:t>
            </a:r>
          </a:p>
          <a:p>
            <a:r>
              <a:rPr dirty="0">
                <a:solidFill>
                  <a:srgbClr val="00694E"/>
                </a:solidFill>
              </a:rPr>
              <a:t>Otherwise =&gt; RANGED_CONTAIN.</a:t>
            </a:r>
          </a:p>
          <a:p>
            <a:r>
              <a:rPr dirty="0">
                <a:solidFill>
                  <a:srgbClr val="00694E"/>
                </a:solidFill>
              </a:rPr>
              <a:t>Each fallback mode sets concrete knobs (workers, barracks, waves, aggression, raids).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694E"/>
                </a:solidFill>
              </a:rPr>
              <a:t>Key Constants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00694E"/>
                </a:solidFill>
              </a:rPr>
              <a:t>Small map area &lt;= 64; large map area &gt;= 196.</a:t>
            </a:r>
          </a:p>
          <a:p>
            <a:r>
              <a:rPr dirty="0">
                <a:solidFill>
                  <a:srgbClr val="00694E"/>
                </a:solidFill>
              </a:rPr>
              <a:t>Scripted opening cutoff: tick 360.</a:t>
            </a:r>
          </a:p>
          <a:p>
            <a:r>
              <a:rPr dirty="0">
                <a:solidFill>
                  <a:srgbClr val="00694E"/>
                </a:solidFill>
              </a:rPr>
              <a:t>Early barracks-snipe cutoff: tick 650.</a:t>
            </a:r>
          </a:p>
          <a:p>
            <a:r>
              <a:rPr dirty="0">
                <a:solidFill>
                  <a:srgbClr val="00694E"/>
                </a:solidFill>
              </a:rPr>
              <a:t>Boom economy threshold: tick 650.</a:t>
            </a:r>
          </a:p>
          <a:p>
            <a:r>
              <a:rPr dirty="0">
                <a:solidFill>
                  <a:srgbClr val="00694E"/>
                </a:solidFill>
              </a:rPr>
              <a:t>Home reserve threat radius: 4; chase distance: 2.</a:t>
            </a:r>
          </a:p>
          <a:p>
            <a:r>
              <a:rPr dirty="0">
                <a:solidFill>
                  <a:srgbClr val="00694E"/>
                </a:solidFill>
              </a:rPr>
              <a:t>Minimum mode hold: 75 ticks; consult interval default: 160 (+40 large map).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802</Words>
  <Application>Microsoft Macintosh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Fortress Bot Decision System (MicroRTS Submission)</vt:lpstr>
      <vt:lpstr>What Fortress Bot Is</vt:lpstr>
      <vt:lpstr>Per-Tick Control Flow</vt:lpstr>
      <vt:lpstr>LLM Interface and Schema</vt:lpstr>
      <vt:lpstr>Strategy Modes the LLM Can Choose</vt:lpstr>
      <vt:lpstr>Mode Locking and Override Hierarchy</vt:lpstr>
      <vt:lpstr>Hard-Coded Situation Overrides</vt:lpstr>
      <vt:lpstr>Special Branches Before Normal Strategy</vt:lpstr>
      <vt:lpstr>Economy, Tech, and Build Rules</vt:lpstr>
      <vt:lpstr>Worker Role Assignment Rules</vt:lpstr>
      <vt:lpstr>Combat Execution and Wave Launch Logic</vt:lpstr>
      <vt:lpstr>Target Priority System (Hard-Coded)</vt:lpstr>
      <vt:lpstr>Deterministic Fallback Strategy Tree</vt:lpstr>
      <vt:lpstr>Key Constants 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Salyer, Owen</cp:lastModifiedBy>
  <cp:revision>3</cp:revision>
  <dcterms:created xsi:type="dcterms:W3CDTF">2013-01-27T09:14:16Z</dcterms:created>
  <dcterms:modified xsi:type="dcterms:W3CDTF">2026-04-09T19:37:38Z</dcterms:modified>
  <cp:category/>
</cp:coreProperties>
</file>